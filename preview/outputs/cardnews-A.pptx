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2520000" cy="562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목록(근거 상태는 내부 검증 기록 기준이며 IITP 공식 확인이 아닙니다)</a:t>
            </a:r>
          </a:p>
          <a:p>
            <a:r>
              <a:t>NHTSA 2024-07646 · Federal Motor Vehicle Safety Standards; FMVSS No. 305a Electric-Powered Vehicles: Electric Powertrain Integrity Global Technical Regulation No. 20, Incorporation by Reference · 발표일 2024-04-15 · https://www.federalregister.gov/documents/2024/04/15/2024-07646/federal-motor-vehicle-safety-standards-fmvss-no-305a-electric-powered-vehicles-electric-powertrain · 연구원 검증됨</a:t>
            </a:r>
          </a:p>
          <a:p>
            <a:r>
              <a:t>NHTSA 2024-28707 · Federal Motor Vehicle Safety Standards; FMVSS No. 305a Electric-Powered Vehicles: Electric Powertrain Integrity Global Technical Regulation No. 20 Incorporation by Reference · 발표일 2024-12-20 · https://www.federalregister.gov/documents/2024/12/20/2024-28707/federal-motor-vehicle-safety-standards-fmvss-no-305a-electric-powered-vehicles-electric-powertrain · 근거 미검증</a:t>
            </a:r>
          </a:p>
          <a:p>
            <a:r>
              <a:t>NHTSA 2025-02582 · 발표일 2025-02-14 · https://www.federalregister.gov/documents/2025/02/14/2025-02582/federal-motor-vehicle-safety-standards-fmvss-no-305a-electric-powered-vehicles-electric-powertrain · 연구원 검증됨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목록(근거 상태는 내부 검증 기록 기준이며 IITP 공식 확인이 아닙니다)</a:t>
            </a:r>
          </a:p>
          <a:p>
            <a:r>
              <a:t>NHTSA 2024-28707 · Federal Motor Vehicle Safety Standards; FMVSS No. 305a Electric-Powered Vehicles: Electric Powertrain Integrity Global Technical Regulation No. 20 Incorporation by Reference · 발표일 2024-12-20 · https://www.federalregister.gov/documents/2024/12/20/2024-28707/federal-motor-vehicle-safety-standards-fmvss-no-305a-electric-powered-vehicles-electric-powertrain · 근거 미검증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목록(근거 상태는 내부 검증 기록 기준이며 IITP 공식 확인이 아닙니다)</a:t>
            </a:r>
          </a:p>
          <a:p>
            <a:r>
              <a:t>NHTSA 2024-28707 · Federal Motor Vehicle Safety Standards; FMVSS No. 305a Electric-Powered Vehicles: Electric Powertrain Integrity Global Technical Regulation No. 20 Incorporation by Reference · 발표일 2024-12-20 · https://www.federalregister.gov/documents/2024/12/20/2024-28707/federal-motor-vehicle-safety-standards-fmvss-no-305a-electric-powered-vehicles-electric-powertrain · 근거 미검증</a:t>
            </a:r>
          </a:p>
          <a:p>
            <a:r>
              <a:t>NHTSA 2025-02582 · 발표일 2025-02-14 · https://www.federalregister.gov/documents/2025/02/14/2025-02582/federal-motor-vehicle-safety-standards-fmvss-no-305a-electric-powered-vehicles-electric-powertrain · 연구원 검증됨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federalregister.gov/documents/2024/04/15/2024-07646/federal-motor-vehicle-safety-standards-fmvss-no-305a-electric-powered-vehicles-electric-powertrai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ederalregister.gov/documents/2024/12/20/2024-28707/federal-motor-vehicle-safety-standards-fmvss-no-305a-electric-powered-vehicles-electric-powertrain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ederalregister.gov/documents/2024/12/20/2024-28707/federal-motor-vehicle-safety-standards-fmvss-no-305a-electric-powered-vehicles-electric-powertra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1925999" y="100800"/>
            <a:ext cx="39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EB9CF"/>
                </a:solidFill>
                <a:latin typeface="맑은 고딕"/>
                <a:ea typeface="맑은 고딕"/>
                <a:cs typeface="맑은 고딕"/>
              </a:rPr>
              <a:t>01/04</a:t>
            </a:r>
          </a:p>
        </p:txBody>
      </p:sp>
      <p:sp>
        <p:nvSpPr>
          <p:cNvPr id="3" name="box"/>
          <p:cNvSpPr/>
          <p:nvPr/>
        </p:nvSpPr>
        <p:spPr>
          <a:xfrm>
            <a:off x="198000" y="360000"/>
            <a:ext cx="1044000" cy="223200"/>
          </a:xfrm>
          <a:prstGeom prst="roundRect">
            <a:avLst>
              <a:gd name="adj" fmla="val 241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dge"/>
          <p:cNvSpPr txBox="1"/>
          <p:nvPr/>
        </p:nvSpPr>
        <p:spPr>
          <a:xfrm>
            <a:off x="198000" y="360000"/>
            <a:ext cx="1044000" cy="223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주간 AI·ICT 동향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98000" y="827999"/>
            <a:ext cx="2124000" cy="2232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미국 NHTSA 전기차 동력계 안전기준(FMVSS 305a) 제정 동향</a:t>
            </a:r>
          </a:p>
        </p:txBody>
      </p:sp>
      <p:sp>
        <p:nvSpPr>
          <p:cNvPr id="6" name="box"/>
          <p:cNvSpPr/>
          <p:nvPr/>
        </p:nvSpPr>
        <p:spPr>
          <a:xfrm>
            <a:off x="198000" y="3204000"/>
            <a:ext cx="503999" cy="43200"/>
          </a:xfrm>
          <a:prstGeom prst="rect">
            <a:avLst/>
          </a:prstGeom>
          <a:solidFill>
            <a:srgbClr val="5CA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btitle"/>
          <p:cNvSpPr txBox="1"/>
          <p:nvPr/>
        </p:nvSpPr>
        <p:spPr>
          <a:xfrm>
            <a:off x="198000" y="3348000"/>
            <a:ext cx="2124000" cy="1152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DDEC"/>
                </a:solidFill>
                <a:latin typeface="맑은 고딕"/>
                <a:ea typeface="맑은 고딕"/>
                <a:cs typeface="맑은 고딕"/>
              </a:rPr>
              <a:t>제정안 공고부터 시행·준수 시한까지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98000" y="4860000"/>
            <a:ext cx="2124000" cy="216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0CADD"/>
                </a:solidFill>
                <a:latin typeface="맑은 고딕"/>
                <a:ea typeface="맑은 고딕"/>
                <a:cs typeface="맑은 고딕"/>
              </a:rPr>
              <a:t>출처: 미국 NHTSA(연방관보)</a:t>
            </a:r>
          </a:p>
        </p:txBody>
      </p:sp>
      <p:sp>
        <p:nvSpPr>
          <p:cNvPr id="9" name="label"/>
          <p:cNvSpPr txBox="1"/>
          <p:nvPr/>
        </p:nvSpPr>
        <p:spPr>
          <a:xfrm>
            <a:off x="198000" y="5436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0CADD"/>
                </a:solidFill>
                <a:latin typeface="맑은 고딕"/>
                <a:ea typeface="맑은 고딕"/>
                <a:cs typeface="맑은 고딕"/>
              </a:rPr>
              <a:t>시범 · 내부용·IITP 미확인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x"/>
          <p:cNvSpPr/>
          <p:nvPr/>
        </p:nvSpPr>
        <p:spPr>
          <a:xfrm>
            <a:off x="0" y="0"/>
            <a:ext cx="2520000" cy="9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"/>
          <p:cNvSpPr txBox="1"/>
          <p:nvPr/>
        </p:nvSpPr>
        <p:spPr>
          <a:xfrm>
            <a:off x="1925999" y="100800"/>
            <a:ext cx="39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EB9CF"/>
                </a:solidFill>
                <a:latin typeface="맑은 고딕"/>
                <a:ea typeface="맑은 고딕"/>
                <a:cs typeface="맑은 고딕"/>
              </a:rPr>
              <a:t>02/04</a:t>
            </a:r>
          </a:p>
        </p:txBody>
      </p:sp>
      <p:sp>
        <p:nvSpPr>
          <p:cNvPr id="4" name="heading"/>
          <p:cNvSpPr txBox="1"/>
          <p:nvPr/>
        </p:nvSpPr>
        <p:spPr>
          <a:xfrm>
            <a:off x="198000" y="234000"/>
            <a:ext cx="2124000" cy="612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경과와 시행 일정</a:t>
            </a:r>
          </a:p>
        </p:txBody>
      </p:sp>
      <p:sp>
        <p:nvSpPr>
          <p:cNvPr id="5" name="box"/>
          <p:cNvSpPr/>
          <p:nvPr/>
        </p:nvSpPr>
        <p:spPr>
          <a:xfrm>
            <a:off x="198000" y="1080000"/>
            <a:ext cx="2124000" cy="1122000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"/>
          <p:cNvSpPr/>
          <p:nvPr/>
        </p:nvSpPr>
        <p:spPr>
          <a:xfrm>
            <a:off x="270000" y="1170000"/>
            <a:ext cx="270000" cy="270000"/>
          </a:xfrm>
          <a:prstGeom prst="ellipse">
            <a:avLst/>
          </a:prstGeom>
          <a:solidFill>
            <a:srgbClr val="276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el"/>
          <p:cNvSpPr txBox="1"/>
          <p:nvPr/>
        </p:nvSpPr>
        <p:spPr>
          <a:xfrm>
            <a:off x="270000" y="1170000"/>
            <a:ext cx="270000" cy="27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content_1"/>
          <p:cNvSpPr txBox="1"/>
          <p:nvPr/>
        </p:nvSpPr>
        <p:spPr>
          <a:xfrm>
            <a:off x="630000" y="1152000"/>
            <a:ext cx="1620000" cy="97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2024.4.15. NHTSA가 FMVSS No. 305a 제정안(NPRM)을 공고함. 의견수렴 마감은 2024.6.14.임</a:t>
            </a:r>
          </a:p>
        </p:txBody>
      </p:sp>
      <p:sp>
        <p:nvSpPr>
          <p:cNvPr id="9" name="box"/>
          <p:cNvSpPr/>
          <p:nvPr/>
        </p:nvSpPr>
        <p:spPr>
          <a:xfrm>
            <a:off x="198000" y="2274000"/>
            <a:ext cx="2124000" cy="1122000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t"/>
          <p:cNvSpPr/>
          <p:nvPr/>
        </p:nvSpPr>
        <p:spPr>
          <a:xfrm>
            <a:off x="270000" y="2364000"/>
            <a:ext cx="270000" cy="270000"/>
          </a:xfrm>
          <a:prstGeom prst="ellipse">
            <a:avLst/>
          </a:prstGeom>
          <a:solidFill>
            <a:srgbClr val="276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el"/>
          <p:cNvSpPr txBox="1"/>
          <p:nvPr/>
        </p:nvSpPr>
        <p:spPr>
          <a:xfrm>
            <a:off x="270000" y="2364000"/>
            <a:ext cx="270000" cy="27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content_2"/>
          <p:cNvSpPr txBox="1"/>
          <p:nvPr/>
        </p:nvSpPr>
        <p:spPr>
          <a:xfrm>
            <a:off x="630000" y="2346000"/>
            <a:ext cx="1620000" cy="97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2024.12.20. 동일 RIN으로 최종 규정(Docket NHTSA-2024-0091)이 공고됨</a:t>
            </a:r>
          </a:p>
        </p:txBody>
      </p:sp>
      <p:sp>
        <p:nvSpPr>
          <p:cNvPr id="13" name="box"/>
          <p:cNvSpPr/>
          <p:nvPr/>
        </p:nvSpPr>
        <p:spPr>
          <a:xfrm>
            <a:off x="198000" y="3468000"/>
            <a:ext cx="2124000" cy="1122000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t"/>
          <p:cNvSpPr/>
          <p:nvPr/>
        </p:nvSpPr>
        <p:spPr>
          <a:xfrm>
            <a:off x="270000" y="3558000"/>
            <a:ext cx="270000" cy="270000"/>
          </a:xfrm>
          <a:prstGeom prst="ellipse">
            <a:avLst/>
          </a:prstGeom>
          <a:solidFill>
            <a:srgbClr val="276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bel"/>
          <p:cNvSpPr txBox="1"/>
          <p:nvPr/>
        </p:nvSpPr>
        <p:spPr>
          <a:xfrm>
            <a:off x="270000" y="3558000"/>
            <a:ext cx="270000" cy="27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content_3"/>
          <p:cNvSpPr txBox="1"/>
          <p:nvPr/>
        </p:nvSpPr>
        <p:spPr>
          <a:xfrm>
            <a:off x="630000" y="3539999"/>
            <a:ext cx="1620000" cy="97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최종 규정은 당초 2025.2.18.부터 시행될 예정이었음. 2025.2.14. 공고된 후속 규정으로 시행일이 2025.3.20.으로 연기됨</a:t>
            </a:r>
          </a:p>
        </p:txBody>
      </p:sp>
      <p:sp>
        <p:nvSpPr>
          <p:cNvPr id="17" name="box"/>
          <p:cNvSpPr/>
          <p:nvPr/>
        </p:nvSpPr>
        <p:spPr>
          <a:xfrm>
            <a:off x="198000" y="4662000"/>
            <a:ext cx="2124000" cy="540000"/>
          </a:xfrm>
          <a:prstGeom prst="roundRect">
            <a:avLst>
              <a:gd name="adj" fmla="val 10000"/>
            </a:avLst>
          </a:prstGeom>
          <a:solidFill>
            <a:srgbClr val="E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"/>
          <p:cNvSpPr txBox="1"/>
          <p:nvPr/>
        </p:nvSpPr>
        <p:spPr>
          <a:xfrm>
            <a:off x="270000" y="4680000"/>
            <a:ext cx="57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76B53"/>
                </a:solidFill>
                <a:latin typeface="맑은 고딕"/>
                <a:ea typeface="맑은 고딕"/>
                <a:cs typeface="맑은 고딕"/>
              </a:rPr>
              <a:t>시사점</a:t>
            </a:r>
          </a:p>
        </p:txBody>
      </p:sp>
      <p:sp>
        <p:nvSpPr>
          <p:cNvPr id="19" name="implication"/>
          <p:cNvSpPr txBox="1"/>
          <p:nvPr/>
        </p:nvSpPr>
        <p:spPr>
          <a:xfrm>
            <a:off x="270000" y="4816800"/>
            <a:ext cx="1980000" cy="360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시행일과 준수 시한을 구분해 관리해야 함</a:t>
            </a:r>
          </a:p>
        </p:txBody>
      </p:sp>
      <p:sp>
        <p:nvSpPr>
          <p:cNvPr id="20" name="source"/>
          <p:cNvSpPr txBox="1"/>
          <p:nvPr/>
        </p:nvSpPr>
        <p:spPr>
          <a:xfrm>
            <a:off x="198000" y="5202000"/>
            <a:ext cx="1368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출처: </a:t>
            </a: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  <a:hlinkClick r:id="rId3"/>
              </a:rPr>
              <a:t>NHTSA 2024-07646</a:t>
            </a: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 외 2건</a:t>
            </a:r>
          </a:p>
        </p:txBody>
      </p:sp>
      <p:sp>
        <p:nvSpPr>
          <p:cNvPr id="21" name="근거 미검증 배지"/>
          <p:cNvSpPr/>
          <p:nvPr/>
        </p:nvSpPr>
        <p:spPr>
          <a:xfrm>
            <a:off x="1602000" y="5205600"/>
            <a:ext cx="720000" cy="144000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"/>
          <p:cNvSpPr txBox="1"/>
          <p:nvPr/>
        </p:nvSpPr>
        <p:spPr>
          <a:xfrm>
            <a:off x="1602000" y="5205600"/>
            <a:ext cx="720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B5200"/>
                </a:solidFill>
                <a:latin typeface="맑은 고딕"/>
                <a:ea typeface="맑은 고딕"/>
                <a:cs typeface="맑은 고딕"/>
              </a:rPr>
              <a:t>근거 미검증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198000" y="5436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시범 · 내부용·IITP 미확인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x"/>
          <p:cNvSpPr/>
          <p:nvPr/>
        </p:nvSpPr>
        <p:spPr>
          <a:xfrm>
            <a:off x="0" y="0"/>
            <a:ext cx="2520000" cy="9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"/>
          <p:cNvSpPr txBox="1"/>
          <p:nvPr/>
        </p:nvSpPr>
        <p:spPr>
          <a:xfrm>
            <a:off x="1925999" y="100800"/>
            <a:ext cx="39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EB9CF"/>
                </a:solidFill>
                <a:latin typeface="맑은 고딕"/>
                <a:ea typeface="맑은 고딕"/>
                <a:cs typeface="맑은 고딕"/>
              </a:rPr>
              <a:t>03/04</a:t>
            </a:r>
          </a:p>
        </p:txBody>
      </p:sp>
      <p:sp>
        <p:nvSpPr>
          <p:cNvPr id="4" name="heading"/>
          <p:cNvSpPr txBox="1"/>
          <p:nvPr/>
        </p:nvSpPr>
        <p:spPr>
          <a:xfrm>
            <a:off x="198000" y="234000"/>
            <a:ext cx="2124000" cy="612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준수 시한(차량 구분별)</a:t>
            </a:r>
          </a:p>
        </p:txBody>
      </p:sp>
      <p:sp>
        <p:nvSpPr>
          <p:cNvPr id="5" name="box"/>
          <p:cNvSpPr/>
          <p:nvPr/>
        </p:nvSpPr>
        <p:spPr>
          <a:xfrm>
            <a:off x="198000" y="1080000"/>
            <a:ext cx="2124000" cy="1122000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"/>
          <p:cNvSpPr/>
          <p:nvPr/>
        </p:nvSpPr>
        <p:spPr>
          <a:xfrm>
            <a:off x="270000" y="1170000"/>
            <a:ext cx="270000" cy="270000"/>
          </a:xfrm>
          <a:prstGeom prst="ellipse">
            <a:avLst/>
          </a:prstGeom>
          <a:solidFill>
            <a:srgbClr val="276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el"/>
          <p:cNvSpPr txBox="1"/>
          <p:nvPr/>
        </p:nvSpPr>
        <p:spPr>
          <a:xfrm>
            <a:off x="270000" y="1170000"/>
            <a:ext cx="270000" cy="27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content_1"/>
          <p:cNvSpPr txBox="1"/>
          <p:nvPr/>
        </p:nvSpPr>
        <p:spPr>
          <a:xfrm>
            <a:off x="630000" y="1152000"/>
            <a:ext cx="1620000" cy="97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비상대응정보 문서화 요건의 준수 시한은 2025.12.22.임</a:t>
            </a:r>
          </a:p>
        </p:txBody>
      </p:sp>
      <p:sp>
        <p:nvSpPr>
          <p:cNvPr id="9" name="box"/>
          <p:cNvSpPr/>
          <p:nvPr/>
        </p:nvSpPr>
        <p:spPr>
          <a:xfrm>
            <a:off x="198000" y="2274000"/>
            <a:ext cx="2124000" cy="1122000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t"/>
          <p:cNvSpPr/>
          <p:nvPr/>
        </p:nvSpPr>
        <p:spPr>
          <a:xfrm>
            <a:off x="270000" y="2364000"/>
            <a:ext cx="270000" cy="270000"/>
          </a:xfrm>
          <a:prstGeom prst="ellipse">
            <a:avLst/>
          </a:prstGeom>
          <a:solidFill>
            <a:srgbClr val="276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el"/>
          <p:cNvSpPr txBox="1"/>
          <p:nvPr/>
        </p:nvSpPr>
        <p:spPr>
          <a:xfrm>
            <a:off x="270000" y="2364000"/>
            <a:ext cx="270000" cy="27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content_2"/>
          <p:cNvSpPr txBox="1"/>
          <p:nvPr/>
        </p:nvSpPr>
        <p:spPr>
          <a:xfrm>
            <a:off x="630000" y="2346000"/>
            <a:ext cx="1620000" cy="97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총중량 4,536kg 이하 차량의 그 밖의 요건 준수 시한은 2027.9.1.임</a:t>
            </a:r>
          </a:p>
        </p:txBody>
      </p:sp>
      <p:sp>
        <p:nvSpPr>
          <p:cNvPr id="13" name="box"/>
          <p:cNvSpPr/>
          <p:nvPr/>
        </p:nvSpPr>
        <p:spPr>
          <a:xfrm>
            <a:off x="198000" y="3468000"/>
            <a:ext cx="2124000" cy="1122000"/>
          </a:xfrm>
          <a:prstGeom prst="roundRect">
            <a:avLst>
              <a:gd name="adj" fmla="val 5775"/>
            </a:avLst>
          </a:prstGeom>
          <a:solidFill>
            <a:srgbClr val="FFFFFF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t"/>
          <p:cNvSpPr/>
          <p:nvPr/>
        </p:nvSpPr>
        <p:spPr>
          <a:xfrm>
            <a:off x="270000" y="3558000"/>
            <a:ext cx="270000" cy="270000"/>
          </a:xfrm>
          <a:prstGeom prst="ellipse">
            <a:avLst/>
          </a:prstGeom>
          <a:solidFill>
            <a:srgbClr val="276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bel"/>
          <p:cNvSpPr txBox="1"/>
          <p:nvPr/>
        </p:nvSpPr>
        <p:spPr>
          <a:xfrm>
            <a:off x="270000" y="3558000"/>
            <a:ext cx="270000" cy="27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content_3"/>
          <p:cNvSpPr txBox="1"/>
          <p:nvPr/>
        </p:nvSpPr>
        <p:spPr>
          <a:xfrm>
            <a:off x="630000" y="3539999"/>
            <a:ext cx="1620000" cy="97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총중량 4,536kg 초과 차량의 그 밖의 요건 준수 시한은 2028.9.1.임(소량생산업체 등은 1년 추가 유예)</a:t>
            </a:r>
          </a:p>
        </p:txBody>
      </p:sp>
      <p:sp>
        <p:nvSpPr>
          <p:cNvPr id="17" name="box"/>
          <p:cNvSpPr/>
          <p:nvPr/>
        </p:nvSpPr>
        <p:spPr>
          <a:xfrm>
            <a:off x="198000" y="4662000"/>
            <a:ext cx="2124000" cy="540000"/>
          </a:xfrm>
          <a:prstGeom prst="roundRect">
            <a:avLst>
              <a:gd name="adj" fmla="val 10000"/>
            </a:avLst>
          </a:prstGeom>
          <a:solidFill>
            <a:srgbClr val="E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"/>
          <p:cNvSpPr txBox="1"/>
          <p:nvPr/>
        </p:nvSpPr>
        <p:spPr>
          <a:xfrm>
            <a:off x="270000" y="4680000"/>
            <a:ext cx="57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76B53"/>
                </a:solidFill>
                <a:latin typeface="맑은 고딕"/>
                <a:ea typeface="맑은 고딕"/>
                <a:cs typeface="맑은 고딕"/>
              </a:rPr>
              <a:t>시사점</a:t>
            </a:r>
          </a:p>
        </p:txBody>
      </p:sp>
      <p:sp>
        <p:nvSpPr>
          <p:cNvPr id="19" name="implication"/>
          <p:cNvSpPr txBox="1"/>
          <p:nvPr/>
        </p:nvSpPr>
        <p:spPr>
          <a:xfrm>
            <a:off x="270000" y="4816800"/>
            <a:ext cx="1980000" cy="360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국내 산업 영향은 원문에 근거가 없어 추가 조사 필요</a:t>
            </a:r>
          </a:p>
        </p:txBody>
      </p:sp>
      <p:sp>
        <p:nvSpPr>
          <p:cNvPr id="20" name="source"/>
          <p:cNvSpPr txBox="1"/>
          <p:nvPr/>
        </p:nvSpPr>
        <p:spPr>
          <a:xfrm>
            <a:off x="198000" y="5202000"/>
            <a:ext cx="1368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출처: </a:t>
            </a: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  <a:hlinkClick r:id="rId3"/>
              </a:rPr>
              <a:t>NHTSA 2024-28707</a:t>
            </a:r>
          </a:p>
        </p:txBody>
      </p:sp>
      <p:sp>
        <p:nvSpPr>
          <p:cNvPr id="21" name="근거 미검증 배지"/>
          <p:cNvSpPr/>
          <p:nvPr/>
        </p:nvSpPr>
        <p:spPr>
          <a:xfrm>
            <a:off x="1602000" y="5205600"/>
            <a:ext cx="720000" cy="144000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"/>
          <p:cNvSpPr txBox="1"/>
          <p:nvPr/>
        </p:nvSpPr>
        <p:spPr>
          <a:xfrm>
            <a:off x="1602000" y="5205600"/>
            <a:ext cx="720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B5200"/>
                </a:solidFill>
                <a:latin typeface="맑은 고딕"/>
                <a:ea typeface="맑은 고딕"/>
                <a:cs typeface="맑은 고딕"/>
              </a:rPr>
              <a:t>근거 미검증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198000" y="5436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시범 · 내부용·IITP 미확인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1925999" y="100800"/>
            <a:ext cx="39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EB9CF"/>
                </a:solidFill>
                <a:latin typeface="맑은 고딕"/>
                <a:ea typeface="맑은 고딕"/>
                <a:cs typeface="맑은 고딕"/>
              </a:rPr>
              <a:t>04/04</a:t>
            </a:r>
          </a:p>
        </p:txBody>
      </p:sp>
      <p:sp>
        <p:nvSpPr>
          <p:cNvPr id="3" name="box"/>
          <p:cNvSpPr/>
          <p:nvPr/>
        </p:nvSpPr>
        <p:spPr>
          <a:xfrm>
            <a:off x="198000" y="360000"/>
            <a:ext cx="503999" cy="43200"/>
          </a:xfrm>
          <a:prstGeom prst="rect">
            <a:avLst/>
          </a:prstGeom>
          <a:solidFill>
            <a:srgbClr val="5CA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"/>
          <p:cNvSpPr txBox="1"/>
          <p:nvPr/>
        </p:nvSpPr>
        <p:spPr>
          <a:xfrm>
            <a:off x="198000" y="468000"/>
            <a:ext cx="2124000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FD1B6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</p:txBody>
      </p:sp>
      <p:sp>
        <p:nvSpPr>
          <p:cNvPr id="5" name="message"/>
          <p:cNvSpPr txBox="1"/>
          <p:nvPr/>
        </p:nvSpPr>
        <p:spPr>
          <a:xfrm>
            <a:off x="198000" y="720000"/>
            <a:ext cx="2124000" cy="2015999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시행일(2025.3.20.)과 준수 시한은 구분해서 확인해야 함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198000" y="2880000"/>
            <a:ext cx="648000" cy="0"/>
          </a:xfrm>
          <a:prstGeom prst="line">
            <a:avLst/>
          </a:prstGeom>
          <a:ln w="19050">
            <a:solidFill>
              <a:srgbClr val="5CA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label"/>
          <p:cNvSpPr txBox="1"/>
          <p:nvPr/>
        </p:nvSpPr>
        <p:spPr>
          <a:xfrm>
            <a:off x="198000" y="2988000"/>
            <a:ext cx="2124000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FD1B6"/>
                </a:solidFill>
                <a:latin typeface="맑은 고딕"/>
                <a:ea typeface="맑은 고딕"/>
                <a:cs typeface="맑은 고딕"/>
              </a:rPr>
              <a:t>시사점·후속 과제</a:t>
            </a:r>
          </a:p>
        </p:txBody>
      </p:sp>
      <p:sp>
        <p:nvSpPr>
          <p:cNvPr id="8" name="follow_up"/>
          <p:cNvSpPr txBox="1"/>
          <p:nvPr/>
        </p:nvSpPr>
        <p:spPr>
          <a:xfrm>
            <a:off x="198000" y="3204000"/>
            <a:ext cx="2124000" cy="136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5DDEC"/>
                </a:solidFill>
                <a:latin typeface="맑은 고딕"/>
                <a:ea typeface="맑은 고딕"/>
                <a:cs typeface="맑은 고딕"/>
              </a:rPr>
              <a:t>국내 산업 영향은 원문에 근거가 없어 추가 조사 필요</a:t>
            </a:r>
          </a:p>
        </p:txBody>
      </p:sp>
      <p:sp>
        <p:nvSpPr>
          <p:cNvPr id="9" name="source">
            <a:hlinkClick r:id="rId3"/>
          </p:cNvPr>
          <p:cNvSpPr txBox="1"/>
          <p:nvPr/>
        </p:nvSpPr>
        <p:spPr>
          <a:xfrm>
            <a:off x="198000" y="4716000"/>
            <a:ext cx="2124000" cy="216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0CADD"/>
                </a:solidFill>
                <a:latin typeface="맑은 고딕"/>
                <a:ea typeface="맑은 고딕"/>
                <a:cs typeface="맑은 고딕"/>
              </a:rPr>
              <a:t>출처: NHTSA 2024-28707, 2025-02582</a:t>
            </a:r>
          </a:p>
        </p:txBody>
      </p:sp>
      <p:sp>
        <p:nvSpPr>
          <p:cNvPr id="10" name="근거 미검증 배지"/>
          <p:cNvSpPr/>
          <p:nvPr/>
        </p:nvSpPr>
        <p:spPr>
          <a:xfrm>
            <a:off x="198000" y="5148000"/>
            <a:ext cx="720000" cy="144000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el"/>
          <p:cNvSpPr txBox="1"/>
          <p:nvPr/>
        </p:nvSpPr>
        <p:spPr>
          <a:xfrm>
            <a:off x="198000" y="5148000"/>
            <a:ext cx="720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B5200"/>
                </a:solidFill>
                <a:latin typeface="맑은 고딕"/>
                <a:ea typeface="맑은 고딕"/>
                <a:cs typeface="맑은 고딕"/>
              </a:rPr>
              <a:t>근거 미검증</a:t>
            </a:r>
          </a:p>
        </p:txBody>
      </p:sp>
      <p:sp>
        <p:nvSpPr>
          <p:cNvPr id="12" name="label"/>
          <p:cNvSpPr txBox="1"/>
          <p:nvPr/>
        </p:nvSpPr>
        <p:spPr>
          <a:xfrm>
            <a:off x="198000" y="5436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0CADD"/>
                </a:solidFill>
                <a:latin typeface="맑은 고딕"/>
                <a:ea typeface="맑은 고딕"/>
                <a:cs typeface="맑은 고딕"/>
              </a:rPr>
              <a:t>시범 · 내부용·IITP 미확인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[시범] 카드뉴스 A형 — FMVSS 305a 제정 동향</dc:title>
  <dc:subject/>
  <dc:creator>TNP AI Platform</dc:creator>
  <cp:keywords/>
  <dc:description>카드뉴스 — 텍스트·도형·표·차트는 PowerPoint에서 직접 편집 가능한 객체입니다(전체 이미지 삽입 아님).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