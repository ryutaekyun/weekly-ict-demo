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2520000" cy="5623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 목록(근거 상태는 내부 검증 기록 기준이며 IITP 공식 확인이 아닙니다)</a:t>
            </a:r>
          </a:p>
          <a:p>
            <a:r>
              <a:t>NHTSA 2024-07646 · Federal Motor Vehicle Safety Standards; FMVSS No. 305a Electric-Powered Vehicles: Electric Powertrain Integrity Global Technical Regulation No. 20, Incorporation by Reference · 발표일 2024-04-15 · https://www.federalregister.gov/documents/2024/04/15/2024-07646/federal-motor-vehicle-safety-standards-fmvss-no-305a-electric-powered-vehicles-electric-powertrain · 연구원 검증됨</a:t>
            </a:r>
          </a:p>
          <a:p>
            <a:r>
              <a:t>NHTSA 2024-28707 · Federal Motor Vehicle Safety Standards; FMVSS No. 305a Electric-Powered Vehicles: Electric Powertrain Integrity Global Technical Regulation No. 20 Incorporation by Reference · 발표일 2024-12-20 · https://www.federalregister.gov/documents/2024/12/20/2024-28707/federal-motor-vehicle-safety-standards-fmvss-no-305a-electric-powered-vehicles-electric-powertrain · 연구원 검증됨</a:t>
            </a:r>
          </a:p>
          <a:p>
            <a:r>
              <a:t>NHTSA 2025-02582 · 발표일 2025-02-14 · https://www.federalregister.gov/documents/2025/02/14/2025-02582/federal-motor-vehicle-safety-standards-fmvss-no-305a-electric-powered-vehicles-electric-powertrain · 연구원 검증됨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 목록(근거 상태는 내부 검증 기록 기준이며 IITP 공식 확인이 아닙니다)</a:t>
            </a:r>
          </a:p>
          <a:p>
            <a:r>
              <a:t>NHTSA 2024-28707 · Federal Motor Vehicle Safety Standards; FMVSS No. 305a Electric-Powered Vehicles: Electric Powertrain Integrity Global Technical Regulation No. 20 Incorporation by Reference · 발표일 2024-12-20 · https://www.federalregister.gov/documents/2024/12/20/2024-28707/federal-motor-vehicle-safety-standards-fmvss-no-305a-electric-powered-vehicles-electric-powertrain · 근거 미검증</a:t>
            </a:r>
          </a:p>
          <a:p>
            <a:r>
              <a:t>NHTSA 2025-02582 · 발표일 2025-02-14 · https://www.federalregister.gov/documents/2025/02/14/2025-02582/federal-motor-vehicle-safety-standards-fmvss-no-305a-electric-powered-vehicles-electric-powertrain · 연구원 검증됨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federalregister.gov/documents/2024/04/15/2024-07646/federal-motor-vehicle-safety-standards-fmvss-no-305a-electric-powered-vehicles-electric-powertrain" TargetMode="External"/><Relationship Id="rId4" Type="http://schemas.openxmlformats.org/officeDocument/2006/relationships/hyperlink" Target="https://www.federalregister.gov/documents/2024/12/20/2024-28707/federal-motor-vehicle-safety-standards-fmvss-no-305a-electric-powered-vehicles-electric-powertrain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federalregister.gov/documents/2024/12/20/2024-28707/federal-motor-vehicle-safety-standards-fmvss-no-305a-electric-powered-vehicles-electric-powertrain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1925999" y="100800"/>
            <a:ext cx="396000" cy="144000"/>
          </a:xfrm>
          <a:prstGeom prst="rect">
            <a:avLst/>
          </a:prstGeom>
          <a:noFill/>
        </p:spPr>
        <p:txBody>
          <a:bodyPr wrap="square" lIns="28800" rIns="28800" tIns="18000" bIns="18000" anchor="ctr">
            <a:no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66070"/>
                </a:solidFill>
                <a:latin typeface="맑은 고딕"/>
                <a:ea typeface="맑은 고딕"/>
                <a:cs typeface="맑은 고딕"/>
              </a:rPr>
              <a:t>01/03</a:t>
            </a:r>
          </a:p>
        </p:txBody>
      </p:sp>
      <p:sp>
        <p:nvSpPr>
          <p:cNvPr id="3" name="box"/>
          <p:cNvSpPr/>
          <p:nvPr/>
        </p:nvSpPr>
        <p:spPr>
          <a:xfrm>
            <a:off x="0" y="0"/>
            <a:ext cx="2520000" cy="3131999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ox"/>
          <p:cNvSpPr/>
          <p:nvPr/>
        </p:nvSpPr>
        <p:spPr>
          <a:xfrm>
            <a:off x="198000" y="360000"/>
            <a:ext cx="1044000" cy="223200"/>
          </a:xfrm>
          <a:prstGeom prst="roundRect">
            <a:avLst>
              <a:gd name="adj" fmla="val 2419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adge"/>
          <p:cNvSpPr txBox="1"/>
          <p:nvPr/>
        </p:nvSpPr>
        <p:spPr>
          <a:xfrm>
            <a:off x="198000" y="360000"/>
            <a:ext cx="1044000" cy="223200"/>
          </a:xfrm>
          <a:prstGeom prst="rect">
            <a:avLst/>
          </a:prstGeom>
          <a:noFill/>
        </p:spPr>
        <p:txBody>
          <a:bodyPr wrap="square" lIns="28800" rIns="28800" tIns="18000" bIns="1800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주간 AI·ICT 동향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198000" y="792000"/>
            <a:ext cx="2124000" cy="2088000"/>
          </a:xfrm>
          <a:prstGeom prst="rect">
            <a:avLst/>
          </a:prstGeom>
          <a:noFill/>
        </p:spPr>
        <p:txBody>
          <a:bodyPr wrap="square" lIns="28800" rIns="28800" tIns="18000" bIns="1800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FMVSS 305a 추진 일정</a:t>
            </a:r>
          </a:p>
        </p:txBody>
      </p:sp>
      <p:cxnSp>
        <p:nvCxnSpPr>
          <p:cNvPr id="7" name="line"/>
          <p:cNvCxnSpPr/>
          <p:nvPr/>
        </p:nvCxnSpPr>
        <p:spPr>
          <a:xfrm>
            <a:off x="432000" y="3456000"/>
            <a:ext cx="0" cy="1548000"/>
          </a:xfrm>
          <a:prstGeom prst="line">
            <a:avLst/>
          </a:prstGeom>
          <a:ln w="25400">
            <a:solidFill>
              <a:srgbClr val="6C8E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ot"/>
          <p:cNvSpPr/>
          <p:nvPr/>
        </p:nvSpPr>
        <p:spPr>
          <a:xfrm>
            <a:off x="360000" y="3456000"/>
            <a:ext cx="144000" cy="144000"/>
          </a:xfrm>
          <a:prstGeom prst="ellipse">
            <a:avLst/>
          </a:prstGeom>
          <a:solidFill>
            <a:srgbClr val="6C8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t"/>
          <p:cNvSpPr/>
          <p:nvPr/>
        </p:nvSpPr>
        <p:spPr>
          <a:xfrm>
            <a:off x="360000" y="4068000"/>
            <a:ext cx="144000" cy="144000"/>
          </a:xfrm>
          <a:prstGeom prst="ellipse">
            <a:avLst/>
          </a:prstGeom>
          <a:solidFill>
            <a:srgbClr val="DC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t"/>
          <p:cNvSpPr/>
          <p:nvPr/>
        </p:nvSpPr>
        <p:spPr>
          <a:xfrm>
            <a:off x="360000" y="4680000"/>
            <a:ext cx="144000" cy="144000"/>
          </a:xfrm>
          <a:prstGeom prst="ellipse">
            <a:avLst/>
          </a:prstGeom>
          <a:solidFill>
            <a:srgbClr val="DC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ubtitle"/>
          <p:cNvSpPr txBox="1"/>
          <p:nvPr/>
        </p:nvSpPr>
        <p:spPr>
          <a:xfrm>
            <a:off x="702000" y="3384000"/>
            <a:ext cx="1620000" cy="1224000"/>
          </a:xfrm>
          <a:prstGeom prst="rect">
            <a:avLst/>
          </a:prstGeom>
          <a:noFill/>
        </p:spPr>
        <p:txBody>
          <a:bodyPr wrap="square" lIns="28800" rIns="28800" tIns="18000" bIns="1800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제정안 공고 → 최종 규정 → 시행 → 준수 시한</a:t>
            </a:r>
          </a:p>
        </p:txBody>
      </p:sp>
      <p:sp>
        <p:nvSpPr>
          <p:cNvPr id="12" name="source"/>
          <p:cNvSpPr txBox="1"/>
          <p:nvPr/>
        </p:nvSpPr>
        <p:spPr>
          <a:xfrm>
            <a:off x="198000" y="4896000"/>
            <a:ext cx="2124000" cy="216000"/>
          </a:xfrm>
          <a:prstGeom prst="rect">
            <a:avLst/>
          </a:prstGeom>
          <a:noFill/>
        </p:spPr>
        <p:txBody>
          <a:bodyPr wrap="square" lIns="28800" rIns="28800" tIns="18000" bIns="1800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66070"/>
                </a:solidFill>
                <a:latin typeface="맑은 고딕"/>
                <a:ea typeface="맑은 고딕"/>
                <a:cs typeface="맑은 고딕"/>
              </a:rPr>
              <a:t>출처: 미국 NHTSA(연방관보)</a:t>
            </a:r>
          </a:p>
        </p:txBody>
      </p:sp>
      <p:sp>
        <p:nvSpPr>
          <p:cNvPr id="13" name="label"/>
          <p:cNvSpPr txBox="1"/>
          <p:nvPr/>
        </p:nvSpPr>
        <p:spPr>
          <a:xfrm>
            <a:off x="198000" y="5436000"/>
            <a:ext cx="2124000" cy="151200"/>
          </a:xfrm>
          <a:prstGeom prst="rect">
            <a:avLst/>
          </a:prstGeom>
          <a:noFill/>
        </p:spPr>
        <p:txBody>
          <a:bodyPr wrap="square" lIns="28800" rIns="28800" tIns="18000" bIns="1800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66070"/>
                </a:solidFill>
                <a:latin typeface="맑은 고딕"/>
                <a:ea typeface="맑은 고딕"/>
                <a:cs typeface="맑은 고딕"/>
              </a:rPr>
              <a:t>시범 · 내부용·IITP 미확인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ox"/>
          <p:cNvSpPr/>
          <p:nvPr/>
        </p:nvSpPr>
        <p:spPr>
          <a:xfrm>
            <a:off x="0" y="0"/>
            <a:ext cx="2520000" cy="827999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label"/>
          <p:cNvSpPr txBox="1"/>
          <p:nvPr/>
        </p:nvSpPr>
        <p:spPr>
          <a:xfrm>
            <a:off x="1925999" y="100800"/>
            <a:ext cx="396000" cy="144000"/>
          </a:xfrm>
          <a:prstGeom prst="rect">
            <a:avLst/>
          </a:prstGeom>
          <a:noFill/>
        </p:spPr>
        <p:txBody>
          <a:bodyPr wrap="square" lIns="28800" rIns="28800" tIns="18000" bIns="18000" anchor="ctr">
            <a:no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AEB9CF"/>
                </a:solidFill>
                <a:latin typeface="맑은 고딕"/>
                <a:ea typeface="맑은 고딕"/>
                <a:cs typeface="맑은 고딕"/>
              </a:rPr>
              <a:t>02/03</a:t>
            </a:r>
          </a:p>
        </p:txBody>
      </p:sp>
      <p:sp>
        <p:nvSpPr>
          <p:cNvPr id="4" name="heading"/>
          <p:cNvSpPr txBox="1"/>
          <p:nvPr/>
        </p:nvSpPr>
        <p:spPr>
          <a:xfrm>
            <a:off x="198000" y="234000"/>
            <a:ext cx="2124000" cy="539999"/>
          </a:xfrm>
          <a:prstGeom prst="rect">
            <a:avLst/>
          </a:prstGeom>
          <a:noFill/>
        </p:spPr>
        <p:txBody>
          <a:bodyPr wrap="square" lIns="28800" rIns="28800" tIns="18000" bIns="1800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단계별 추진 일정</a:t>
            </a:r>
          </a:p>
        </p:txBody>
      </p:sp>
      <p:cxnSp>
        <p:nvCxnSpPr>
          <p:cNvPr id="5" name="line"/>
          <p:cNvCxnSpPr/>
          <p:nvPr/>
        </p:nvCxnSpPr>
        <p:spPr>
          <a:xfrm>
            <a:off x="450000" y="1080000"/>
            <a:ext cx="0" cy="3456000"/>
          </a:xfrm>
          <a:prstGeom prst="line">
            <a:avLst/>
          </a:prstGeom>
          <a:ln w="25400">
            <a:solidFill>
              <a:srgbClr val="6C8E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dot"/>
          <p:cNvSpPr/>
          <p:nvPr/>
        </p:nvSpPr>
        <p:spPr>
          <a:xfrm>
            <a:off x="360000" y="1072800"/>
            <a:ext cx="180000" cy="18000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ox"/>
          <p:cNvSpPr/>
          <p:nvPr/>
        </p:nvSpPr>
        <p:spPr>
          <a:xfrm>
            <a:off x="702000" y="1044000"/>
            <a:ext cx="827999" cy="144000"/>
          </a:xfrm>
          <a:prstGeom prst="roundRect">
            <a:avLst>
              <a:gd name="adj" fmla="val 25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label"/>
          <p:cNvSpPr txBox="1"/>
          <p:nvPr/>
        </p:nvSpPr>
        <p:spPr>
          <a:xfrm>
            <a:off x="702000" y="1044000"/>
            <a:ext cx="827999" cy="144000"/>
          </a:xfrm>
          <a:prstGeom prst="rect">
            <a:avLst/>
          </a:prstGeom>
          <a:noFill/>
        </p:spPr>
        <p:txBody>
          <a:bodyPr wrap="square" lIns="28800" rIns="28800" tIns="18000" bIns="1800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발표</a:t>
            </a:r>
          </a:p>
        </p:txBody>
      </p:sp>
      <p:sp>
        <p:nvSpPr>
          <p:cNvPr id="9" name="stage_1_date"/>
          <p:cNvSpPr txBox="1"/>
          <p:nvPr/>
        </p:nvSpPr>
        <p:spPr>
          <a:xfrm>
            <a:off x="702000" y="1206000"/>
            <a:ext cx="1620000" cy="180000"/>
          </a:xfrm>
          <a:prstGeom prst="rect">
            <a:avLst/>
          </a:prstGeom>
          <a:noFill/>
        </p:spPr>
        <p:txBody>
          <a:bodyPr wrap="square" lIns="28800" rIns="28800" tIns="18000" bIns="1800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2024.4.15.</a:t>
            </a:r>
          </a:p>
        </p:txBody>
      </p:sp>
      <p:sp>
        <p:nvSpPr>
          <p:cNvPr id="10" name="stage_1_text"/>
          <p:cNvSpPr txBox="1"/>
          <p:nvPr/>
        </p:nvSpPr>
        <p:spPr>
          <a:xfrm>
            <a:off x="702000" y="1396800"/>
            <a:ext cx="1620000" cy="432000"/>
          </a:xfrm>
          <a:prstGeom prst="rect">
            <a:avLst/>
          </a:prstGeom>
          <a:noFill/>
        </p:spPr>
        <p:txBody>
          <a:bodyPr wrap="square" lIns="28800" rIns="28800" tIns="18000" bIns="1800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C3A55"/>
                </a:solidFill>
                <a:latin typeface="맑은 고딕"/>
                <a:ea typeface="맑은 고딕"/>
                <a:cs typeface="맑은 고딕"/>
              </a:rPr>
              <a:t>FMVSS No. 305a 제정안(NPRM) 공고</a:t>
            </a:r>
          </a:p>
        </p:txBody>
      </p:sp>
      <p:sp>
        <p:nvSpPr>
          <p:cNvPr id="11" name="dot"/>
          <p:cNvSpPr/>
          <p:nvPr/>
        </p:nvSpPr>
        <p:spPr>
          <a:xfrm>
            <a:off x="360000" y="1882800"/>
            <a:ext cx="180000" cy="180000"/>
          </a:xfrm>
          <a:prstGeom prst="ellipse">
            <a:avLst/>
          </a:prstGeom>
          <a:solidFill>
            <a:srgbClr val="2F7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ox"/>
          <p:cNvSpPr/>
          <p:nvPr/>
        </p:nvSpPr>
        <p:spPr>
          <a:xfrm>
            <a:off x="702000" y="1854000"/>
            <a:ext cx="827999" cy="144000"/>
          </a:xfrm>
          <a:prstGeom prst="roundRect">
            <a:avLst>
              <a:gd name="adj" fmla="val 25000"/>
            </a:avLst>
          </a:prstGeom>
          <a:solidFill>
            <a:srgbClr val="2F7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abel"/>
          <p:cNvSpPr txBox="1"/>
          <p:nvPr/>
        </p:nvSpPr>
        <p:spPr>
          <a:xfrm>
            <a:off x="702000" y="1854000"/>
            <a:ext cx="827999" cy="144000"/>
          </a:xfrm>
          <a:prstGeom prst="rect">
            <a:avLst/>
          </a:prstGeom>
          <a:noFill/>
        </p:spPr>
        <p:txBody>
          <a:bodyPr wrap="square" lIns="28800" rIns="28800" tIns="18000" bIns="1800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확정·공고</a:t>
            </a:r>
          </a:p>
        </p:txBody>
      </p:sp>
      <p:sp>
        <p:nvSpPr>
          <p:cNvPr id="14" name="stage_2_date"/>
          <p:cNvSpPr txBox="1"/>
          <p:nvPr/>
        </p:nvSpPr>
        <p:spPr>
          <a:xfrm>
            <a:off x="702000" y="2016000"/>
            <a:ext cx="1620000" cy="180000"/>
          </a:xfrm>
          <a:prstGeom prst="rect">
            <a:avLst/>
          </a:prstGeom>
          <a:noFill/>
        </p:spPr>
        <p:txBody>
          <a:bodyPr wrap="square" lIns="28800" rIns="28800" tIns="18000" bIns="1800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2024.12.20.</a:t>
            </a:r>
          </a:p>
        </p:txBody>
      </p:sp>
      <p:sp>
        <p:nvSpPr>
          <p:cNvPr id="15" name="stage_2_text"/>
          <p:cNvSpPr txBox="1"/>
          <p:nvPr/>
        </p:nvSpPr>
        <p:spPr>
          <a:xfrm>
            <a:off x="702000" y="2206800"/>
            <a:ext cx="1620000" cy="432000"/>
          </a:xfrm>
          <a:prstGeom prst="rect">
            <a:avLst/>
          </a:prstGeom>
          <a:noFill/>
        </p:spPr>
        <p:txBody>
          <a:bodyPr wrap="square" lIns="28800" rIns="28800" tIns="18000" bIns="1800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C3A55"/>
                </a:solidFill>
                <a:latin typeface="맑은 고딕"/>
                <a:ea typeface="맑은 고딕"/>
                <a:cs typeface="맑은 고딕"/>
              </a:rPr>
              <a:t>최종 규정 공고(Docket NHTSA-2024-0091)</a:t>
            </a:r>
          </a:p>
        </p:txBody>
      </p:sp>
      <p:sp>
        <p:nvSpPr>
          <p:cNvPr id="16" name="dot"/>
          <p:cNvSpPr/>
          <p:nvPr/>
        </p:nvSpPr>
        <p:spPr>
          <a:xfrm>
            <a:off x="360000" y="2692800"/>
            <a:ext cx="180000" cy="180000"/>
          </a:xfrm>
          <a:prstGeom prst="ellipse">
            <a:avLst/>
          </a:prstGeom>
          <a:solidFill>
            <a:srgbClr val="8A5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ox"/>
          <p:cNvSpPr/>
          <p:nvPr/>
        </p:nvSpPr>
        <p:spPr>
          <a:xfrm>
            <a:off x="702000" y="2664000"/>
            <a:ext cx="827999" cy="144000"/>
          </a:xfrm>
          <a:prstGeom prst="roundRect">
            <a:avLst>
              <a:gd name="adj" fmla="val 25000"/>
            </a:avLst>
          </a:prstGeom>
          <a:solidFill>
            <a:srgbClr val="8A5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label"/>
          <p:cNvSpPr txBox="1"/>
          <p:nvPr/>
        </p:nvSpPr>
        <p:spPr>
          <a:xfrm>
            <a:off x="702000" y="2664000"/>
            <a:ext cx="827999" cy="144000"/>
          </a:xfrm>
          <a:prstGeom prst="rect">
            <a:avLst/>
          </a:prstGeom>
          <a:noFill/>
        </p:spPr>
        <p:txBody>
          <a:bodyPr wrap="square" lIns="28800" rIns="28800" tIns="18000" bIns="1800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시행일 변경</a:t>
            </a:r>
          </a:p>
        </p:txBody>
      </p:sp>
      <p:sp>
        <p:nvSpPr>
          <p:cNvPr id="19" name="stage_3_date"/>
          <p:cNvSpPr txBox="1"/>
          <p:nvPr/>
        </p:nvSpPr>
        <p:spPr>
          <a:xfrm>
            <a:off x="702000" y="2826000"/>
            <a:ext cx="1620000" cy="180000"/>
          </a:xfrm>
          <a:prstGeom prst="rect">
            <a:avLst/>
          </a:prstGeom>
          <a:noFill/>
        </p:spPr>
        <p:txBody>
          <a:bodyPr wrap="square" lIns="28800" rIns="28800" tIns="18000" bIns="1800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2025.2.14.</a:t>
            </a:r>
          </a:p>
        </p:txBody>
      </p:sp>
      <p:sp>
        <p:nvSpPr>
          <p:cNvPr id="20" name="stage_3_text"/>
          <p:cNvSpPr txBox="1"/>
          <p:nvPr/>
        </p:nvSpPr>
        <p:spPr>
          <a:xfrm>
            <a:off x="702000" y="3016800"/>
            <a:ext cx="1620000" cy="432000"/>
          </a:xfrm>
          <a:prstGeom prst="rect">
            <a:avLst/>
          </a:prstGeom>
          <a:noFill/>
        </p:spPr>
        <p:txBody>
          <a:bodyPr wrap="square" lIns="28800" rIns="28800" tIns="18000" bIns="1800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C3A55"/>
                </a:solidFill>
                <a:latin typeface="맑은 고딕"/>
                <a:ea typeface="맑은 고딕"/>
                <a:cs typeface="맑은 고딕"/>
              </a:rPr>
              <a:t>시행일 연기 규정 공고(2025-02582)</a:t>
            </a:r>
          </a:p>
        </p:txBody>
      </p:sp>
      <p:sp>
        <p:nvSpPr>
          <p:cNvPr id="21" name="dot"/>
          <p:cNvSpPr/>
          <p:nvPr/>
        </p:nvSpPr>
        <p:spPr>
          <a:xfrm>
            <a:off x="360000" y="3502800"/>
            <a:ext cx="180000" cy="180000"/>
          </a:xfrm>
          <a:prstGeom prst="ellipse">
            <a:avLst/>
          </a:prstGeom>
          <a:solidFill>
            <a:srgbClr val="B55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ox"/>
          <p:cNvSpPr/>
          <p:nvPr/>
        </p:nvSpPr>
        <p:spPr>
          <a:xfrm>
            <a:off x="702000" y="3474000"/>
            <a:ext cx="827999" cy="144000"/>
          </a:xfrm>
          <a:prstGeom prst="roundRect">
            <a:avLst>
              <a:gd name="adj" fmla="val 25000"/>
            </a:avLst>
          </a:prstGeom>
          <a:solidFill>
            <a:srgbClr val="B55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label"/>
          <p:cNvSpPr txBox="1"/>
          <p:nvPr/>
        </p:nvSpPr>
        <p:spPr>
          <a:xfrm>
            <a:off x="702000" y="3474000"/>
            <a:ext cx="827999" cy="144000"/>
          </a:xfrm>
          <a:prstGeom prst="rect">
            <a:avLst/>
          </a:prstGeom>
          <a:noFill/>
        </p:spPr>
        <p:txBody>
          <a:bodyPr wrap="square" lIns="28800" rIns="28800" tIns="18000" bIns="1800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시행</a:t>
            </a:r>
          </a:p>
        </p:txBody>
      </p:sp>
      <p:sp>
        <p:nvSpPr>
          <p:cNvPr id="24" name="stage_4_date"/>
          <p:cNvSpPr txBox="1"/>
          <p:nvPr/>
        </p:nvSpPr>
        <p:spPr>
          <a:xfrm>
            <a:off x="702000" y="3636000"/>
            <a:ext cx="1620000" cy="180000"/>
          </a:xfrm>
          <a:prstGeom prst="rect">
            <a:avLst/>
          </a:prstGeom>
          <a:noFill/>
        </p:spPr>
        <p:txBody>
          <a:bodyPr wrap="square" lIns="28800" rIns="28800" tIns="18000" bIns="1800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2025.3.20.</a:t>
            </a:r>
          </a:p>
        </p:txBody>
      </p:sp>
      <p:sp>
        <p:nvSpPr>
          <p:cNvPr id="25" name="stage_4_text"/>
          <p:cNvSpPr txBox="1"/>
          <p:nvPr/>
        </p:nvSpPr>
        <p:spPr>
          <a:xfrm>
            <a:off x="702000" y="3826800"/>
            <a:ext cx="1620000" cy="432000"/>
          </a:xfrm>
          <a:prstGeom prst="rect">
            <a:avLst/>
          </a:prstGeom>
          <a:noFill/>
        </p:spPr>
        <p:txBody>
          <a:bodyPr wrap="square" lIns="28800" rIns="28800" tIns="18000" bIns="1800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C3A55"/>
                </a:solidFill>
                <a:latin typeface="맑은 고딕"/>
                <a:ea typeface="맑은 고딕"/>
                <a:cs typeface="맑은 고딕"/>
              </a:rPr>
              <a:t>최종 규정 시행(당초 2025.2.18.에서 연기)</a:t>
            </a:r>
          </a:p>
        </p:txBody>
      </p:sp>
      <p:sp>
        <p:nvSpPr>
          <p:cNvPr id="26" name="dot"/>
          <p:cNvSpPr/>
          <p:nvPr/>
        </p:nvSpPr>
        <p:spPr>
          <a:xfrm>
            <a:off x="360000" y="4312800"/>
            <a:ext cx="180000" cy="180000"/>
          </a:xfrm>
          <a:prstGeom prst="ellipse">
            <a:avLst/>
          </a:prstGeom>
          <a:solidFill>
            <a:srgbClr val="7A5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box"/>
          <p:cNvSpPr/>
          <p:nvPr/>
        </p:nvSpPr>
        <p:spPr>
          <a:xfrm>
            <a:off x="702000" y="4284000"/>
            <a:ext cx="827999" cy="144000"/>
          </a:xfrm>
          <a:prstGeom prst="roundRect">
            <a:avLst>
              <a:gd name="adj" fmla="val 25000"/>
            </a:avLst>
          </a:prstGeom>
          <a:solidFill>
            <a:srgbClr val="7A5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label"/>
          <p:cNvSpPr txBox="1"/>
          <p:nvPr/>
        </p:nvSpPr>
        <p:spPr>
          <a:xfrm>
            <a:off x="702000" y="4284000"/>
            <a:ext cx="827999" cy="144000"/>
          </a:xfrm>
          <a:prstGeom prst="rect">
            <a:avLst/>
          </a:prstGeom>
          <a:noFill/>
        </p:spPr>
        <p:txBody>
          <a:bodyPr wrap="square" lIns="28800" rIns="28800" tIns="18000" bIns="1800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준수 시한</a:t>
            </a:r>
          </a:p>
        </p:txBody>
      </p:sp>
      <p:sp>
        <p:nvSpPr>
          <p:cNvPr id="29" name="stage_5_date"/>
          <p:cNvSpPr txBox="1"/>
          <p:nvPr/>
        </p:nvSpPr>
        <p:spPr>
          <a:xfrm>
            <a:off x="702000" y="4446000"/>
            <a:ext cx="1620000" cy="180000"/>
          </a:xfrm>
          <a:prstGeom prst="rect">
            <a:avLst/>
          </a:prstGeom>
          <a:noFill/>
        </p:spPr>
        <p:txBody>
          <a:bodyPr wrap="square" lIns="28800" rIns="28800" tIns="18000" bIns="1800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2025.12.22.</a:t>
            </a:r>
          </a:p>
        </p:txBody>
      </p:sp>
      <p:sp>
        <p:nvSpPr>
          <p:cNvPr id="30" name="stage_5_text"/>
          <p:cNvSpPr txBox="1"/>
          <p:nvPr/>
        </p:nvSpPr>
        <p:spPr>
          <a:xfrm>
            <a:off x="702000" y="4636800"/>
            <a:ext cx="1620000" cy="432000"/>
          </a:xfrm>
          <a:prstGeom prst="rect">
            <a:avLst/>
          </a:prstGeom>
          <a:noFill/>
        </p:spPr>
        <p:txBody>
          <a:bodyPr wrap="square" lIns="28800" rIns="28800" tIns="18000" bIns="1800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C3A55"/>
                </a:solidFill>
                <a:latin typeface="맑은 고딕"/>
                <a:ea typeface="맑은 고딕"/>
                <a:cs typeface="맑은 고딕"/>
              </a:rPr>
              <a:t>비상대응정보 문서화 요건 준수 시한</a:t>
            </a:r>
          </a:p>
        </p:txBody>
      </p:sp>
      <p:sp>
        <p:nvSpPr>
          <p:cNvPr id="31" name="source"/>
          <p:cNvSpPr txBox="1"/>
          <p:nvPr/>
        </p:nvSpPr>
        <p:spPr>
          <a:xfrm>
            <a:off x="198000" y="5202000"/>
            <a:ext cx="2124000" cy="151200"/>
          </a:xfrm>
          <a:prstGeom prst="rect">
            <a:avLst/>
          </a:prstGeom>
          <a:noFill/>
        </p:spPr>
        <p:txBody>
          <a:bodyPr wrap="square" lIns="28800" rIns="28800" tIns="18000" bIns="1800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700" b="0">
                <a:solidFill>
                  <a:srgbClr val="566070"/>
                </a:solidFill>
                <a:latin typeface="맑은 고딕"/>
                <a:ea typeface="맑은 고딕"/>
                <a:cs typeface="맑은 고딕"/>
              </a:rPr>
              <a:t>출처: </a:t>
            </a:r>
            <a:r>
              <a:rPr sz="700" b="0">
                <a:solidFill>
                  <a:srgbClr val="566070"/>
                </a:solidFill>
                <a:latin typeface="맑은 고딕"/>
                <a:ea typeface="맑은 고딕"/>
                <a:cs typeface="맑은 고딕"/>
                <a:hlinkClick r:id="rId3"/>
              </a:rPr>
              <a:t>NHTSA 2024-07646</a:t>
            </a:r>
            <a:r>
              <a:rPr sz="700" b="0">
                <a:solidFill>
                  <a:srgbClr val="566070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700" b="0">
                <a:solidFill>
                  <a:srgbClr val="566070"/>
                </a:solidFill>
                <a:latin typeface="맑은 고딕"/>
                <a:ea typeface="맑은 고딕"/>
                <a:cs typeface="맑은 고딕"/>
                <a:hlinkClick r:id="rId4"/>
              </a:rPr>
              <a:t>2024-28707</a:t>
            </a:r>
            <a:r>
              <a:rPr sz="700" b="0">
                <a:solidFill>
                  <a:srgbClr val="566070"/>
                </a:solidFill>
                <a:latin typeface="맑은 고딕"/>
                <a:ea typeface="맑은 고딕"/>
                <a:cs typeface="맑은 고딕"/>
              </a:rPr>
              <a:t> 외 1건</a:t>
            </a:r>
          </a:p>
        </p:txBody>
      </p:sp>
      <p:sp>
        <p:nvSpPr>
          <p:cNvPr id="32" name="label"/>
          <p:cNvSpPr txBox="1"/>
          <p:nvPr/>
        </p:nvSpPr>
        <p:spPr>
          <a:xfrm>
            <a:off x="198000" y="5436000"/>
            <a:ext cx="2124000" cy="151200"/>
          </a:xfrm>
          <a:prstGeom prst="rect">
            <a:avLst/>
          </a:prstGeom>
          <a:noFill/>
        </p:spPr>
        <p:txBody>
          <a:bodyPr wrap="square" lIns="28800" rIns="28800" tIns="18000" bIns="1800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66070"/>
                </a:solidFill>
                <a:latin typeface="맑은 고딕"/>
                <a:ea typeface="맑은 고딕"/>
                <a:cs typeface="맑은 고딕"/>
              </a:rPr>
              <a:t>시범 · 내부용·IITP 미확인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1925999" y="100800"/>
            <a:ext cx="396000" cy="144000"/>
          </a:xfrm>
          <a:prstGeom prst="rect">
            <a:avLst/>
          </a:prstGeom>
          <a:noFill/>
        </p:spPr>
        <p:txBody>
          <a:bodyPr wrap="square" lIns="28800" rIns="28800" tIns="18000" bIns="18000" anchor="ctr">
            <a:no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AEB9CF"/>
                </a:solidFill>
                <a:latin typeface="맑은 고딕"/>
                <a:ea typeface="맑은 고딕"/>
                <a:cs typeface="맑은 고딕"/>
              </a:rPr>
              <a:t>03/03</a:t>
            </a:r>
          </a:p>
        </p:txBody>
      </p:sp>
      <p:cxnSp>
        <p:nvCxnSpPr>
          <p:cNvPr id="3" name="line"/>
          <p:cNvCxnSpPr/>
          <p:nvPr/>
        </p:nvCxnSpPr>
        <p:spPr>
          <a:xfrm>
            <a:off x="324000" y="360000"/>
            <a:ext cx="0" cy="4320000"/>
          </a:xfrm>
          <a:prstGeom prst="line">
            <a:avLst/>
          </a:prstGeom>
          <a:ln w="25400">
            <a:solidFill>
              <a:srgbClr val="6C8E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label"/>
          <p:cNvSpPr txBox="1"/>
          <p:nvPr/>
        </p:nvSpPr>
        <p:spPr>
          <a:xfrm>
            <a:off x="503999" y="468000"/>
            <a:ext cx="1835999" cy="180000"/>
          </a:xfrm>
          <a:prstGeom prst="rect">
            <a:avLst/>
          </a:prstGeom>
          <a:noFill/>
        </p:spPr>
        <p:txBody>
          <a:bodyPr wrap="square" lIns="28800" rIns="28800" tIns="18000" bIns="1800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A9C4EA"/>
                </a:solidFill>
                <a:latin typeface="맑은 고딕"/>
                <a:ea typeface="맑은 고딕"/>
                <a:cs typeface="맑은 고딕"/>
              </a:rPr>
              <a:t>SCHEDULE</a:t>
            </a:r>
          </a:p>
        </p:txBody>
      </p:sp>
      <p:sp>
        <p:nvSpPr>
          <p:cNvPr id="5" name="message"/>
          <p:cNvSpPr txBox="1"/>
          <p:nvPr/>
        </p:nvSpPr>
        <p:spPr>
          <a:xfrm>
            <a:off x="503999" y="720000"/>
            <a:ext cx="1835999" cy="2015999"/>
          </a:xfrm>
          <a:prstGeom prst="rect">
            <a:avLst/>
          </a:prstGeom>
          <a:noFill/>
        </p:spPr>
        <p:txBody>
          <a:bodyPr wrap="square" lIns="28800" rIns="28800" tIns="18000" bIns="1800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시행일(2025.3.20.)과 준수 시한을 구분해 확인해야 함</a:t>
            </a:r>
          </a:p>
        </p:txBody>
      </p:sp>
      <p:cxnSp>
        <p:nvCxnSpPr>
          <p:cNvPr id="6" name="line"/>
          <p:cNvCxnSpPr/>
          <p:nvPr/>
        </p:nvCxnSpPr>
        <p:spPr>
          <a:xfrm>
            <a:off x="503999" y="2880000"/>
            <a:ext cx="648001" cy="0"/>
          </a:xfrm>
          <a:prstGeom prst="line">
            <a:avLst/>
          </a:prstGeom>
          <a:ln w="19050">
            <a:solidFill>
              <a:srgbClr val="6C8E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label"/>
          <p:cNvSpPr txBox="1"/>
          <p:nvPr/>
        </p:nvSpPr>
        <p:spPr>
          <a:xfrm>
            <a:off x="503999" y="2988000"/>
            <a:ext cx="1835999" cy="180000"/>
          </a:xfrm>
          <a:prstGeom prst="rect">
            <a:avLst/>
          </a:prstGeom>
          <a:noFill/>
        </p:spPr>
        <p:txBody>
          <a:bodyPr wrap="square" lIns="28800" rIns="28800" tIns="18000" bIns="1800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A9C4EA"/>
                </a:solidFill>
                <a:latin typeface="맑은 고딕"/>
                <a:ea typeface="맑은 고딕"/>
                <a:cs typeface="맑은 고딕"/>
              </a:rPr>
              <a:t>주요 시행·준수 일정</a:t>
            </a:r>
          </a:p>
        </p:txBody>
      </p:sp>
      <p:sp>
        <p:nvSpPr>
          <p:cNvPr id="8" name="follow_up"/>
          <p:cNvSpPr txBox="1"/>
          <p:nvPr/>
        </p:nvSpPr>
        <p:spPr>
          <a:xfrm>
            <a:off x="503999" y="3204000"/>
            <a:ext cx="1835999" cy="1368000"/>
          </a:xfrm>
          <a:prstGeom prst="rect">
            <a:avLst/>
          </a:prstGeom>
          <a:noFill/>
        </p:spPr>
        <p:txBody>
          <a:bodyPr wrap="square" lIns="28800" rIns="28800" tIns="18000" bIns="1800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D5DDEC"/>
                </a:solidFill>
                <a:latin typeface="맑은 고딕"/>
                <a:ea typeface="맑은 고딕"/>
                <a:cs typeface="맑은 고딕"/>
              </a:rPr>
              <a:t>준수 시한: 2025.12.22.(비상대응정보), 2027.9.1.(4,536kg 이하), 2028.9.1.(초과)</a:t>
            </a:r>
          </a:p>
        </p:txBody>
      </p:sp>
      <p:sp>
        <p:nvSpPr>
          <p:cNvPr id="9" name="source">
            <a:hlinkClick r:id="rId3"/>
          </p:cNvPr>
          <p:cNvSpPr txBox="1"/>
          <p:nvPr/>
        </p:nvSpPr>
        <p:spPr>
          <a:xfrm>
            <a:off x="503999" y="4716000"/>
            <a:ext cx="1835999" cy="216000"/>
          </a:xfrm>
          <a:prstGeom prst="rect">
            <a:avLst/>
          </a:prstGeom>
          <a:noFill/>
        </p:spPr>
        <p:txBody>
          <a:bodyPr wrap="square" lIns="28800" rIns="28800" tIns="18000" bIns="1800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C0CADD"/>
                </a:solidFill>
                <a:latin typeface="맑은 고딕"/>
                <a:ea typeface="맑은 고딕"/>
                <a:cs typeface="맑은 고딕"/>
              </a:rPr>
              <a:t>출처: NHTSA 2024-28707, 2025-02582</a:t>
            </a:r>
          </a:p>
        </p:txBody>
      </p:sp>
      <p:sp>
        <p:nvSpPr>
          <p:cNvPr id="10" name="근거 미검증 배지"/>
          <p:cNvSpPr/>
          <p:nvPr/>
        </p:nvSpPr>
        <p:spPr>
          <a:xfrm>
            <a:off x="503999" y="5148000"/>
            <a:ext cx="720000" cy="144000"/>
          </a:xfrm>
          <a:prstGeom prst="roundRect">
            <a:avLst>
              <a:gd name="adj" fmla="val 25000"/>
            </a:avLst>
          </a:prstGeom>
          <a:solidFill>
            <a:srgbClr val="FF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abel"/>
          <p:cNvSpPr txBox="1"/>
          <p:nvPr/>
        </p:nvSpPr>
        <p:spPr>
          <a:xfrm>
            <a:off x="503999" y="5148000"/>
            <a:ext cx="720000" cy="144000"/>
          </a:xfrm>
          <a:prstGeom prst="rect">
            <a:avLst/>
          </a:prstGeom>
          <a:noFill/>
        </p:spPr>
        <p:txBody>
          <a:bodyPr wrap="square" lIns="28800" rIns="28800" tIns="18000" bIns="1800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6B5200"/>
                </a:solidFill>
                <a:latin typeface="맑은 고딕"/>
                <a:ea typeface="맑은 고딕"/>
                <a:cs typeface="맑은 고딕"/>
              </a:rPr>
              <a:t>근거 미검증</a:t>
            </a:r>
          </a:p>
        </p:txBody>
      </p:sp>
      <p:sp>
        <p:nvSpPr>
          <p:cNvPr id="12" name="label"/>
          <p:cNvSpPr txBox="1"/>
          <p:nvPr/>
        </p:nvSpPr>
        <p:spPr>
          <a:xfrm>
            <a:off x="198000" y="5436000"/>
            <a:ext cx="2124000" cy="151200"/>
          </a:xfrm>
          <a:prstGeom prst="rect">
            <a:avLst/>
          </a:prstGeom>
          <a:noFill/>
        </p:spPr>
        <p:txBody>
          <a:bodyPr wrap="square" lIns="28800" rIns="28800" tIns="18000" bIns="18000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0CADD"/>
                </a:solidFill>
                <a:latin typeface="맑은 고딕"/>
                <a:ea typeface="맑은 고딕"/>
                <a:cs typeface="맑은 고딕"/>
              </a:rPr>
              <a:t>시범 · 내부용·IITP 미확인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[시범] 카드뉴스 B형 — FMVSS 305a 추진 일정</dc:title>
  <dc:subject/>
  <dc:creator>TNP AI Platform</dc:creator>
  <cp:keywords/>
  <dc:description>카드뉴스 — 텍스트·도형·표·차트는 PowerPoint에서 직접 편집 가능한 객체입니다(전체 이미지 삽입 아님).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